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Roca Two" charset="1" panose="00000500000000000000"/>
      <p:regular r:id="rId28"/>
    </p:embeddedFont>
    <p:embeddedFont>
      <p:font typeface="Roboto" charset="1" panose="02000000000000000000"/>
      <p:regular r:id="rId29"/>
    </p:embeddedFont>
    <p:embeddedFont>
      <p:font typeface="Roca Two Bold" charset="1" panose="00000800000000000000"/>
      <p:regular r:id="rId30"/>
    </p:embeddedFont>
    <p:embeddedFont>
      <p:font typeface="Roboto Bold" charset="1" panose="02000000000000000000"/>
      <p:regular r:id="rId31"/>
    </p:embeddedFont>
    <p:embeddedFont>
      <p:font typeface="Roboto Italics" charset="1" panose="020000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3.xml" Type="http://schemas.openxmlformats.org/officeDocument/2006/relationships/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slide12.xml" Type="http://schemas.openxmlformats.org/officeDocument/2006/relationships/slide"/><Relationship Id="rId6" Target="slide14.xml" Type="http://schemas.openxmlformats.org/officeDocument/2006/relationships/slide"/><Relationship Id="rId7" Target="slide15.xml" Type="http://schemas.openxmlformats.org/officeDocument/2006/relationships/slide"/><Relationship Id="rId8" Target="slide22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almeidadatascience.com/mentoria-em-data-science" TargetMode="External" Type="http://schemas.openxmlformats.org/officeDocument/2006/relationships/hyperlink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https://almeidadatascience.com/mentoria-em-data-science" TargetMode="External" Type="http://schemas.openxmlformats.org/officeDocument/2006/relationships/hyperlink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almeidadatascience.com/mentoria-em-data-science" TargetMode="External" Type="http://schemas.openxmlformats.org/officeDocument/2006/relationships/hyperlink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71544" cy="10333993"/>
          </a:xfrm>
          <a:custGeom>
            <a:avLst/>
            <a:gdLst/>
            <a:ahLst/>
            <a:cxnLst/>
            <a:rect r="r" b="b" t="t" l="l"/>
            <a:pathLst>
              <a:path h="10333993" w="18371544">
                <a:moveTo>
                  <a:pt x="0" y="0"/>
                </a:moveTo>
                <a:lnTo>
                  <a:pt x="18371544" y="0"/>
                </a:lnTo>
                <a:lnTo>
                  <a:pt x="18371544" y="10333993"/>
                </a:lnTo>
                <a:lnTo>
                  <a:pt x="0" y="103339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01914" y="1929400"/>
            <a:ext cx="10569630" cy="58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250"/>
              </a:lnSpc>
            </a:pPr>
            <a:r>
              <a:rPr lang="en-US" sz="5000" spc="-23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Plano de Desenvolvimento Individual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74634" y="3691555"/>
            <a:ext cx="7240578" cy="477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485"/>
              </a:lnSpc>
            </a:pPr>
            <a:r>
              <a:rPr lang="en-US" sz="4100" spc="-188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Mentoring e Carreiras em Dados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07438" y="7326198"/>
            <a:ext cx="5265824" cy="375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35"/>
              </a:lnSpc>
            </a:pPr>
            <a:r>
              <a:rPr lang="en-US" sz="3100" spc="-142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Professor: Jonnathan Martins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25728" y="5367022"/>
            <a:ext cx="7734848" cy="742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270"/>
              </a:lnSpc>
            </a:pPr>
            <a:r>
              <a:rPr lang="en-US" sz="6200" spc="-285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Aluno: Rafael Cardoso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93465" y="6053346"/>
            <a:ext cx="6505104" cy="709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3100" spc="-142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Turma Turma 1384.000.01I - 2026/1</a:t>
            </a:r>
          </a:p>
          <a:p>
            <a:pPr algn="l" marL="0" indent="0" lvl="1">
              <a:lnSpc>
                <a:spcPts val="263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325728" y="2978975"/>
            <a:ext cx="7240578" cy="477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485"/>
              </a:lnSpc>
            </a:pPr>
            <a:r>
              <a:rPr lang="en-US" sz="4100" spc="-188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MBA Engenharia de Dados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2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57250"/>
            <a:ext cx="4789796" cy="1509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01"/>
              </a:lnSpc>
              <a:spcBef>
                <a:spcPct val="0"/>
              </a:spcBef>
            </a:pPr>
            <a:r>
              <a:rPr lang="en-US" sz="8786" spc="-404" strike="noStrike" u="none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Tópicos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69414" y="971550"/>
            <a:ext cx="6727861" cy="4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5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Autoavaliação - Assessment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19100" y="1130618"/>
            <a:ext cx="721689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 u="sng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  <a:hlinkClick r:id="rId2" action="ppaction://hlinksldjump"/>
              </a:rPr>
              <a:t>03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901160" y="1073467"/>
            <a:ext cx="358140" cy="358140"/>
          </a:xfrm>
          <a:custGeom>
            <a:avLst/>
            <a:gdLst/>
            <a:ahLst/>
            <a:cxnLst/>
            <a:rect r="r" b="b" t="t" l="l"/>
            <a:pathLst>
              <a:path h="358140" w="358140">
                <a:moveTo>
                  <a:pt x="0" y="0"/>
                </a:moveTo>
                <a:lnTo>
                  <a:pt x="358140" y="0"/>
                </a:lnTo>
                <a:lnTo>
                  <a:pt x="358140" y="358141"/>
                </a:lnTo>
                <a:lnTo>
                  <a:pt x="0" y="358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8419100" y="1863090"/>
            <a:ext cx="8840200" cy="0"/>
          </a:xfrm>
          <a:prstGeom prst="line">
            <a:avLst/>
          </a:prstGeom>
          <a:ln cap="flat" w="9525">
            <a:solidFill>
              <a:srgbClr val="C5FF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9569414" y="2440115"/>
            <a:ext cx="672786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Objetivo do PDI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19100" y="2608707"/>
            <a:ext cx="721689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 u="sng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  <a:hlinkClick r:id="rId5" action="ppaction://hlinksldjump"/>
              </a:rPr>
              <a:t>12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901160" y="2551557"/>
            <a:ext cx="358140" cy="358140"/>
          </a:xfrm>
          <a:custGeom>
            <a:avLst/>
            <a:gdLst/>
            <a:ahLst/>
            <a:cxnLst/>
            <a:rect r="r" b="b" t="t" l="l"/>
            <a:pathLst>
              <a:path h="358140" w="358140">
                <a:moveTo>
                  <a:pt x="0" y="0"/>
                </a:moveTo>
                <a:lnTo>
                  <a:pt x="358140" y="0"/>
                </a:lnTo>
                <a:lnTo>
                  <a:pt x="358140" y="358140"/>
                </a:lnTo>
                <a:lnTo>
                  <a:pt x="0" y="3581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10" id="10"/>
          <p:cNvSpPr/>
          <p:nvPr/>
        </p:nvSpPr>
        <p:spPr>
          <a:xfrm>
            <a:off x="8419100" y="3341180"/>
            <a:ext cx="8840200" cy="0"/>
          </a:xfrm>
          <a:prstGeom prst="line">
            <a:avLst/>
          </a:prstGeom>
          <a:ln cap="flat" w="9525">
            <a:solidFill>
              <a:srgbClr val="C5FF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569414" y="3918204"/>
            <a:ext cx="672786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Metodologia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19100" y="4086796"/>
            <a:ext cx="721689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 u="sng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  <a:hlinkClick r:id="rId6" action="ppaction://hlinksldjump"/>
              </a:rPr>
              <a:t>14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901160" y="4029646"/>
            <a:ext cx="358140" cy="358140"/>
          </a:xfrm>
          <a:custGeom>
            <a:avLst/>
            <a:gdLst/>
            <a:ahLst/>
            <a:cxnLst/>
            <a:rect r="r" b="b" t="t" l="l"/>
            <a:pathLst>
              <a:path h="358140" w="358140">
                <a:moveTo>
                  <a:pt x="0" y="0"/>
                </a:moveTo>
                <a:lnTo>
                  <a:pt x="358140" y="0"/>
                </a:lnTo>
                <a:lnTo>
                  <a:pt x="358140" y="358140"/>
                </a:lnTo>
                <a:lnTo>
                  <a:pt x="0" y="3581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14" id="14"/>
          <p:cNvSpPr/>
          <p:nvPr/>
        </p:nvSpPr>
        <p:spPr>
          <a:xfrm>
            <a:off x="8419100" y="4819269"/>
            <a:ext cx="8840200" cy="0"/>
          </a:xfrm>
          <a:prstGeom prst="line">
            <a:avLst/>
          </a:prstGeom>
          <a:ln cap="flat" w="9525">
            <a:solidFill>
              <a:srgbClr val="C5FF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9569414" y="5396293"/>
            <a:ext cx="672786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Planejamento PDI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19100" y="5564886"/>
            <a:ext cx="721689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 u="sng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  <a:hlinkClick r:id="rId7" action="ppaction://hlinksldjump"/>
              </a:rPr>
              <a:t>15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6901160" y="5507736"/>
            <a:ext cx="358140" cy="358140"/>
          </a:xfrm>
          <a:custGeom>
            <a:avLst/>
            <a:gdLst/>
            <a:ahLst/>
            <a:cxnLst/>
            <a:rect r="r" b="b" t="t" l="l"/>
            <a:pathLst>
              <a:path h="358140" w="358140">
                <a:moveTo>
                  <a:pt x="0" y="0"/>
                </a:moveTo>
                <a:lnTo>
                  <a:pt x="358140" y="0"/>
                </a:lnTo>
                <a:lnTo>
                  <a:pt x="358140" y="358140"/>
                </a:lnTo>
                <a:lnTo>
                  <a:pt x="0" y="3581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18" id="18"/>
          <p:cNvSpPr/>
          <p:nvPr/>
        </p:nvSpPr>
        <p:spPr>
          <a:xfrm>
            <a:off x="8419100" y="6297358"/>
            <a:ext cx="8840200" cy="0"/>
          </a:xfrm>
          <a:prstGeom prst="line">
            <a:avLst/>
          </a:prstGeom>
          <a:ln cap="flat" w="9525">
            <a:solidFill>
              <a:srgbClr val="C5FF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9569414" y="6874383"/>
            <a:ext cx="672786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Perfil no Linkedln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19100" y="7042976"/>
            <a:ext cx="721689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21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6901160" y="6985825"/>
            <a:ext cx="358140" cy="358140"/>
          </a:xfrm>
          <a:custGeom>
            <a:avLst/>
            <a:gdLst/>
            <a:ahLst/>
            <a:cxnLst/>
            <a:rect r="r" b="b" t="t" l="l"/>
            <a:pathLst>
              <a:path h="358140" w="358140">
                <a:moveTo>
                  <a:pt x="0" y="0"/>
                </a:moveTo>
                <a:lnTo>
                  <a:pt x="358140" y="0"/>
                </a:lnTo>
                <a:lnTo>
                  <a:pt x="358140" y="358141"/>
                </a:lnTo>
                <a:lnTo>
                  <a:pt x="0" y="358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2" id="22"/>
          <p:cNvSpPr/>
          <p:nvPr/>
        </p:nvSpPr>
        <p:spPr>
          <a:xfrm>
            <a:off x="8419100" y="7775448"/>
            <a:ext cx="8840200" cy="0"/>
          </a:xfrm>
          <a:prstGeom prst="line">
            <a:avLst/>
          </a:prstGeom>
          <a:ln cap="flat" w="9525">
            <a:solidFill>
              <a:srgbClr val="C5FF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9663558" y="8104061"/>
            <a:ext cx="672786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Resultados Preliminares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13244" y="8272653"/>
            <a:ext cx="721689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 u="sng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  <a:hlinkClick r:id="rId8" action="ppaction://hlinksldjump"/>
              </a:rPr>
              <a:t>25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6995304" y="8215503"/>
            <a:ext cx="358140" cy="358140"/>
          </a:xfrm>
          <a:custGeom>
            <a:avLst/>
            <a:gdLst/>
            <a:ahLst/>
            <a:cxnLst/>
            <a:rect r="r" b="b" t="t" l="l"/>
            <a:pathLst>
              <a:path h="358140" w="358140">
                <a:moveTo>
                  <a:pt x="0" y="0"/>
                </a:moveTo>
                <a:lnTo>
                  <a:pt x="358140" y="0"/>
                </a:lnTo>
                <a:lnTo>
                  <a:pt x="358140" y="358140"/>
                </a:lnTo>
                <a:lnTo>
                  <a:pt x="0" y="3581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6" id="26"/>
          <p:cNvSpPr/>
          <p:nvPr/>
        </p:nvSpPr>
        <p:spPr>
          <a:xfrm>
            <a:off x="8513244" y="9005126"/>
            <a:ext cx="8840200" cy="0"/>
          </a:xfrm>
          <a:prstGeom prst="line">
            <a:avLst/>
          </a:prstGeom>
          <a:ln cap="flat" w="9525">
            <a:solidFill>
              <a:srgbClr val="C5FFB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9239250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3760203"/>
            <a:ext cx="16230600" cy="4933950"/>
            <a:chOff x="0" y="0"/>
            <a:chExt cx="1334090" cy="4055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4090" cy="405551"/>
            </a:xfrm>
            <a:custGeom>
              <a:avLst/>
              <a:gdLst/>
              <a:ahLst/>
              <a:cxnLst/>
              <a:rect r="r" b="b" t="t" l="l"/>
              <a:pathLst>
                <a:path h="405551" w="1334090">
                  <a:moveTo>
                    <a:pt x="7632" y="0"/>
                  </a:moveTo>
                  <a:lnTo>
                    <a:pt x="1326458" y="0"/>
                  </a:lnTo>
                  <a:cubicBezTo>
                    <a:pt x="1330673" y="0"/>
                    <a:pt x="1334090" y="3417"/>
                    <a:pt x="1334090" y="7632"/>
                  </a:cubicBezTo>
                  <a:lnTo>
                    <a:pt x="1334090" y="397919"/>
                  </a:lnTo>
                  <a:cubicBezTo>
                    <a:pt x="1334090" y="399943"/>
                    <a:pt x="1333286" y="401884"/>
                    <a:pt x="1331855" y="403316"/>
                  </a:cubicBezTo>
                  <a:cubicBezTo>
                    <a:pt x="1330424" y="404747"/>
                    <a:pt x="1328482" y="405551"/>
                    <a:pt x="1326458" y="405551"/>
                  </a:cubicBezTo>
                  <a:lnTo>
                    <a:pt x="7632" y="405551"/>
                  </a:lnTo>
                  <a:cubicBezTo>
                    <a:pt x="3417" y="405551"/>
                    <a:pt x="0" y="402134"/>
                    <a:pt x="0" y="397919"/>
                  </a:cubicBezTo>
                  <a:lnTo>
                    <a:pt x="0" y="7632"/>
                  </a:lnTo>
                  <a:cubicBezTo>
                    <a:pt x="0" y="3417"/>
                    <a:pt x="3417" y="0"/>
                    <a:pt x="7632" y="0"/>
                  </a:cubicBezTo>
                  <a:close/>
                </a:path>
              </a:pathLst>
            </a:custGeom>
            <a:solidFill>
              <a:srgbClr val="CD202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226332" y="3959678"/>
            <a:ext cx="4527365" cy="4527347"/>
            <a:chOff x="0" y="0"/>
            <a:chExt cx="6350000" cy="6349975"/>
          </a:xfrm>
        </p:grpSpPr>
        <p:sp>
          <p:nvSpPr>
            <p:cNvPr name="Freeform 6" id="6">
              <a:hlinkClick r:id="rId2" tooltip="https://almeidadatascience.com/mentoria-em-data-science"/>
            </p:cNvPr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1171575"/>
            <a:ext cx="8773787" cy="199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 spc="-35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Autoavaliação </a:t>
            </a:r>
          </a:p>
          <a:p>
            <a:pPr algn="l" marL="0" indent="0" lvl="0">
              <a:lnSpc>
                <a:spcPts val="7700"/>
              </a:lnSpc>
            </a:pPr>
            <a:r>
              <a:rPr lang="en-US" sz="7700" spc="-35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Assessment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75003" y="9597364"/>
            <a:ext cx="228429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57258" y="4220827"/>
            <a:ext cx="4108648" cy="64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6"/>
              </a:lnSpc>
            </a:pPr>
            <a:r>
              <a:rPr lang="en-US" sz="40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Resultado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57258" y="5435715"/>
            <a:ext cx="4108648" cy="64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6"/>
              </a:lnSpc>
            </a:pPr>
            <a:r>
              <a:rPr lang="en-US" sz="40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109 (Nível 03)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C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9239250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171575"/>
            <a:ext cx="8773787" cy="199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 spc="-354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Autoavaliação </a:t>
            </a:r>
          </a:p>
          <a:p>
            <a:pPr algn="l" marL="0" indent="0" lvl="0">
              <a:lnSpc>
                <a:spcPts val="7700"/>
              </a:lnSpc>
            </a:pPr>
            <a:r>
              <a:rPr lang="en-US" sz="7700" spc="-354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Assessment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975003" y="9597364"/>
            <a:ext cx="228429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57258" y="5567650"/>
            <a:ext cx="4108648" cy="64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6"/>
              </a:lnSpc>
            </a:pPr>
            <a:r>
              <a:rPr lang="en-US" sz="40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Nível XX- XX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44000" y="-135174"/>
            <a:ext cx="9144000" cy="10422174"/>
            <a:chOff x="0" y="0"/>
            <a:chExt cx="2408296" cy="27449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8296" cy="2744935"/>
            </a:xfrm>
            <a:custGeom>
              <a:avLst/>
              <a:gdLst/>
              <a:ahLst/>
              <a:cxnLst/>
              <a:rect r="r" b="b" t="t" l="l"/>
              <a:pathLst>
                <a:path h="2744935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44935"/>
                  </a:lnTo>
                  <a:lnTo>
                    <a:pt x="0" y="27449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2408296" cy="2687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1028700" y="9239250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970364" y="3525584"/>
            <a:ext cx="6799076" cy="828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4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Explique em termos gerais qual o seu maior objetivo construindo esse PDI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566383" y="1175999"/>
            <a:ext cx="7993070" cy="2064724"/>
            <a:chOff x="0" y="0"/>
            <a:chExt cx="10657427" cy="27529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740464"/>
              <a:ext cx="859544" cy="859544"/>
            </a:xfrm>
            <a:custGeom>
              <a:avLst/>
              <a:gdLst/>
              <a:ahLst/>
              <a:cxnLst/>
              <a:rect r="r" b="b" t="t" l="l"/>
              <a:pathLst>
                <a:path h="859544" w="859544">
                  <a:moveTo>
                    <a:pt x="0" y="0"/>
                  </a:moveTo>
                  <a:lnTo>
                    <a:pt x="859544" y="0"/>
                  </a:lnTo>
                  <a:lnTo>
                    <a:pt x="859544" y="859544"/>
                  </a:lnTo>
                  <a:lnTo>
                    <a:pt x="0" y="859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840508" y="1711889"/>
              <a:ext cx="8816919" cy="10410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96"/>
                </a:lnSpc>
                <a:spcBef>
                  <a:spcPct val="0"/>
                </a:spcBef>
              </a:pPr>
              <a:r>
                <a:rPr lang="en-US" sz="2438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Evoluir tecnicamente para atuar com análise avançada de dados e Data Science.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61925"/>
              <a:ext cx="7718485" cy="1024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62"/>
                </a:lnSpc>
                <a:spcBef>
                  <a:spcPct val="0"/>
                </a:spcBef>
              </a:pPr>
              <a:r>
                <a:rPr lang="en-US" sz="5847" spc="-268">
                  <a:solidFill>
                    <a:srgbClr val="000000"/>
                  </a:solidFill>
                  <a:latin typeface="Roca Two"/>
                  <a:ea typeface="Roca Two"/>
                  <a:cs typeface="Roca Two"/>
                  <a:sym typeface="Roca Two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66383" y="3823728"/>
            <a:ext cx="8008516" cy="2246823"/>
            <a:chOff x="0" y="0"/>
            <a:chExt cx="10678022" cy="29957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1740464"/>
              <a:ext cx="859544" cy="859544"/>
            </a:xfrm>
            <a:custGeom>
              <a:avLst/>
              <a:gdLst/>
              <a:ahLst/>
              <a:cxnLst/>
              <a:rect r="r" b="b" t="t" l="l"/>
              <a:pathLst>
                <a:path h="859544" w="859544">
                  <a:moveTo>
                    <a:pt x="0" y="0"/>
                  </a:moveTo>
                  <a:lnTo>
                    <a:pt x="859544" y="0"/>
                  </a:lnTo>
                  <a:lnTo>
                    <a:pt x="859544" y="859544"/>
                  </a:lnTo>
                  <a:lnTo>
                    <a:pt x="0" y="859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861103" y="23103"/>
              <a:ext cx="8816919" cy="2972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69"/>
                </a:lnSpc>
                <a:spcBef>
                  <a:spcPct val="0"/>
                </a:spcBef>
              </a:pPr>
              <a:r>
                <a:rPr lang="en-US" sz="2338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Trabalhar em um ambiente que estimule aprendizado contínuo e desenvolvimento técnico, com contato com tecnologias modernas, permitindo minha evolução de Analista de Dados para uma posição mais avançada como Cientista de Dados.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61925"/>
              <a:ext cx="7718485" cy="1024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62"/>
                </a:lnSpc>
                <a:spcBef>
                  <a:spcPct val="0"/>
                </a:spcBef>
              </a:pPr>
              <a:r>
                <a:rPr lang="en-US" sz="5847" spc="-268">
                  <a:solidFill>
                    <a:srgbClr val="000000"/>
                  </a:solidFill>
                  <a:latin typeface="Roca Two"/>
                  <a:ea typeface="Roca Two"/>
                  <a:cs typeface="Roca Two"/>
                  <a:sym typeface="Roca Two"/>
                </a:rPr>
                <a:t>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66383" y="6512276"/>
            <a:ext cx="8023962" cy="2593152"/>
            <a:chOff x="0" y="0"/>
            <a:chExt cx="10698616" cy="34575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1740464"/>
              <a:ext cx="859544" cy="859544"/>
            </a:xfrm>
            <a:custGeom>
              <a:avLst/>
              <a:gdLst/>
              <a:ahLst/>
              <a:cxnLst/>
              <a:rect r="r" b="b" t="t" l="l"/>
              <a:pathLst>
                <a:path h="859544" w="859544">
                  <a:moveTo>
                    <a:pt x="0" y="0"/>
                  </a:moveTo>
                  <a:lnTo>
                    <a:pt x="859544" y="0"/>
                  </a:lnTo>
                  <a:lnTo>
                    <a:pt x="859544" y="859544"/>
                  </a:lnTo>
                  <a:lnTo>
                    <a:pt x="0" y="859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881697" y="854360"/>
              <a:ext cx="8816919" cy="26031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96"/>
                </a:lnSpc>
                <a:spcBef>
                  <a:spcPct val="0"/>
                </a:spcBef>
              </a:pPr>
              <a:r>
                <a:rPr lang="en-US" sz="2438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Participar de projetos, onde eu possa apl</a:t>
              </a:r>
              <a:r>
                <a:rPr lang="en-US" sz="2438" strike="noStrike" u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icar dados para resolver problemas reais de negócio, ganhar experiência prática e fortalecer minhas habilidades em modelagem, estatística e comunicação de insights.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61925"/>
              <a:ext cx="7718485" cy="1024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62"/>
                </a:lnSpc>
                <a:spcBef>
                  <a:spcPct val="0"/>
                </a:spcBef>
              </a:pPr>
              <a:r>
                <a:rPr lang="en-US" sz="5847" spc="-268">
                  <a:solidFill>
                    <a:srgbClr val="000000"/>
                  </a:solidFill>
                  <a:latin typeface="Roca Two"/>
                  <a:ea typeface="Roca Two"/>
                  <a:cs typeface="Roca Two"/>
                  <a:sym typeface="Roca Two"/>
                </a:rPr>
                <a:t>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227258" y="4556696"/>
            <a:ext cx="4527365" cy="4527347"/>
            <a:chOff x="0" y="0"/>
            <a:chExt cx="6350000" cy="6349975"/>
          </a:xfrm>
        </p:grpSpPr>
        <p:sp>
          <p:nvSpPr>
            <p:cNvPr name="Freeform 24" id="24">
              <a:hlinkClick r:id="rId4" tooltip="https://almeidadatascience.com/mentoria-em-data-science"/>
            </p:cNvPr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816103" y="3576637"/>
            <a:ext cx="5342787" cy="8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51"/>
              </a:lnSpc>
              <a:spcBef>
                <a:spcPct val="0"/>
              </a:spcBef>
            </a:pPr>
            <a:r>
              <a:rPr lang="en-US" sz="6723" spc="-309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Sobre mim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975003" y="9597364"/>
            <a:ext cx="228429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9239250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4975003" y="9597364"/>
            <a:ext cx="228429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285750" y="0"/>
            <a:ext cx="18745200" cy="2628900"/>
            <a:chOff x="0" y="0"/>
            <a:chExt cx="4937007" cy="6923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37008" cy="692385"/>
            </a:xfrm>
            <a:custGeom>
              <a:avLst/>
              <a:gdLst/>
              <a:ahLst/>
              <a:cxnLst/>
              <a:rect r="r" b="b" t="t" l="l"/>
              <a:pathLst>
                <a:path h="692385" w="4937008">
                  <a:moveTo>
                    <a:pt x="0" y="0"/>
                  </a:moveTo>
                  <a:lnTo>
                    <a:pt x="4937008" y="0"/>
                  </a:lnTo>
                  <a:lnTo>
                    <a:pt x="4937008" y="692385"/>
                  </a:lnTo>
                  <a:lnTo>
                    <a:pt x="0" y="692385"/>
                  </a:lnTo>
                  <a:close/>
                </a:path>
              </a:pathLst>
            </a:custGeom>
            <a:solidFill>
              <a:srgbClr val="CC1F2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4937007" cy="635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0" y="2628900"/>
            <a:ext cx="182880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028700" y="6019800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3554646"/>
            <a:ext cx="6742718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 strike="noStrike" u="none">
                <a:solidFill>
                  <a:srgbClr val="4C72FF"/>
                </a:solidFill>
                <a:latin typeface="Roca Two"/>
                <a:ea typeface="Roca Two"/>
                <a:cs typeface="Roca Two"/>
                <a:sym typeface="Roca Two"/>
              </a:rPr>
              <a:t>P: Qual é seu objetivo profissional nos próximos anos?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503123"/>
            <a:ext cx="7312369" cy="100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7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R: Evoluir de Analista de Dados para Cientista de Dados, atuando com modelos preditivos e análise avançada para gerar impacto estratégico no negócio.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945546"/>
            <a:ext cx="6742718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 strike="noStrike" u="none">
                <a:solidFill>
                  <a:srgbClr val="4C72FF"/>
                </a:solidFill>
                <a:latin typeface="Roca Two"/>
                <a:ea typeface="Roca Two"/>
                <a:cs typeface="Roca Two"/>
                <a:sym typeface="Roca Two"/>
              </a:rPr>
              <a:t>P: Como você está se preparando para essa evolução?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727336"/>
            <a:ext cx="7312369" cy="133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7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R: Por meio do MBA em Engenharia de Dados, produzindo projetos práticos mensalmente, fortalecendo meu portfólio com Python, análise de dados e machine learning, com foco em evolução consistente.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8784131" y="2628900"/>
            <a:ext cx="0" cy="661035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028700" y="1135062"/>
            <a:ext cx="162306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368" strike="noStrike" u="none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Perguntas  vs Respostas Decisivas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03869" y="3554646"/>
            <a:ext cx="7755431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 strike="noStrike" u="none">
                <a:solidFill>
                  <a:srgbClr val="4C72FF"/>
                </a:solidFill>
                <a:latin typeface="Roca Two"/>
                <a:ea typeface="Roca Two"/>
                <a:cs typeface="Roca Two"/>
                <a:sym typeface="Roca Two"/>
              </a:rPr>
              <a:t>P: Quais competências você precisa desenvolver para chegar lá?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03869" y="4503123"/>
            <a:ext cx="7375663" cy="100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7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R: Aprofundar conhecimentos em estatística, machine learning e Python, além de fortalecer habilidades em modelagem de dados e interpretação de resultados.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03869" y="6945546"/>
            <a:ext cx="6974798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 strike="noStrike" u="none">
                <a:solidFill>
                  <a:srgbClr val="4C72FF"/>
                </a:solidFill>
                <a:latin typeface="Roca Two"/>
                <a:ea typeface="Roca Two"/>
                <a:cs typeface="Roca Two"/>
                <a:sym typeface="Roca Two"/>
              </a:rPr>
              <a:t>P: Que tipo de problema você quer resolver com dados?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03869" y="7727336"/>
            <a:ext cx="7375663" cy="100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7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R: Problemas de previsão e otimização, como demanda, receita e comportamento do cliente, apoiando decisões mais estratégicas e orientadas por dados.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9239250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876482" y="1028700"/>
            <a:ext cx="8382818" cy="8007197"/>
          </a:xfrm>
          <a:custGeom>
            <a:avLst/>
            <a:gdLst/>
            <a:ahLst/>
            <a:cxnLst/>
            <a:rect r="r" b="b" t="t" l="l"/>
            <a:pathLst>
              <a:path h="8007197" w="8382818">
                <a:moveTo>
                  <a:pt x="0" y="0"/>
                </a:moveTo>
                <a:lnTo>
                  <a:pt x="8382818" y="0"/>
                </a:lnTo>
                <a:lnTo>
                  <a:pt x="8382818" y="8007197"/>
                </a:lnTo>
                <a:lnTo>
                  <a:pt x="0" y="8007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6" r="0" b="-18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71575"/>
            <a:ext cx="8773787" cy="199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 spc="-35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Autoavaliação </a:t>
            </a:r>
          </a:p>
          <a:p>
            <a:pPr algn="l" marL="0" indent="0" lvl="0">
              <a:lnSpc>
                <a:spcPts val="7700"/>
              </a:lnSpc>
            </a:pPr>
            <a:r>
              <a:rPr lang="en-US" sz="7700" spc="-35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Assessment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75003" y="9597364"/>
            <a:ext cx="228429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003" y="3215008"/>
            <a:ext cx="8773787" cy="36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0"/>
              </a:lnSpc>
            </a:pPr>
            <a:r>
              <a:rPr lang="en-US" sz="2700" spc="-12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Módulo 01: Fundamentos Técnicos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114925"/>
            <a:ext cx="4108648" cy="64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6"/>
              </a:lnSpc>
            </a:pPr>
            <a:r>
              <a:rPr lang="en-US" sz="4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Resultado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599136"/>
            <a:ext cx="4108648" cy="64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6"/>
              </a:lnSpc>
            </a:pPr>
            <a:r>
              <a:rPr lang="en-US" sz="4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109 (</a:t>
            </a:r>
            <a:r>
              <a:rPr lang="en-US" sz="4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Nível 03)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9239250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245096" y="621821"/>
            <a:ext cx="8123173" cy="8101156"/>
          </a:xfrm>
          <a:custGeom>
            <a:avLst/>
            <a:gdLst/>
            <a:ahLst/>
            <a:cxnLst/>
            <a:rect r="r" b="b" t="t" l="l"/>
            <a:pathLst>
              <a:path h="8101156" w="8123173">
                <a:moveTo>
                  <a:pt x="0" y="0"/>
                </a:moveTo>
                <a:lnTo>
                  <a:pt x="8123173" y="0"/>
                </a:lnTo>
                <a:lnTo>
                  <a:pt x="8123173" y="8101155"/>
                </a:lnTo>
                <a:lnTo>
                  <a:pt x="0" y="81011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" t="-337" r="-2011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71575"/>
            <a:ext cx="8773787" cy="199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 spc="-35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Autoavaliação </a:t>
            </a:r>
          </a:p>
          <a:p>
            <a:pPr algn="l" marL="0" indent="0" lvl="0">
              <a:lnSpc>
                <a:spcPts val="7700"/>
              </a:lnSpc>
            </a:pPr>
            <a:r>
              <a:rPr lang="en-US" sz="7700" spc="-35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Assessment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75003" y="9597364"/>
            <a:ext cx="228429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003" y="3224533"/>
            <a:ext cx="8773787" cy="366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800" spc="-128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Módulo 02: Arquitetura e Processamento de Dados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114925"/>
            <a:ext cx="4108648" cy="64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6"/>
              </a:lnSpc>
            </a:pPr>
            <a:r>
              <a:rPr lang="en-US" sz="4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Resultado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599136"/>
            <a:ext cx="4108648" cy="64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6"/>
              </a:lnSpc>
            </a:pPr>
            <a:r>
              <a:rPr lang="en-US" sz="4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109 (</a:t>
            </a:r>
            <a:r>
              <a:rPr lang="en-US" sz="4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Nível 03)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9239250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797705" y="1009650"/>
            <a:ext cx="8259961" cy="7929563"/>
          </a:xfrm>
          <a:custGeom>
            <a:avLst/>
            <a:gdLst/>
            <a:ahLst/>
            <a:cxnLst/>
            <a:rect r="r" b="b" t="t" l="l"/>
            <a:pathLst>
              <a:path h="7929563" w="8259961">
                <a:moveTo>
                  <a:pt x="0" y="0"/>
                </a:moveTo>
                <a:lnTo>
                  <a:pt x="8259961" y="0"/>
                </a:lnTo>
                <a:lnTo>
                  <a:pt x="8259961" y="7929562"/>
                </a:lnTo>
                <a:lnTo>
                  <a:pt x="0" y="7929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71575"/>
            <a:ext cx="8773787" cy="199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 spc="-35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Autoavaliação </a:t>
            </a:r>
          </a:p>
          <a:p>
            <a:pPr algn="l" marL="0" indent="0" lvl="0">
              <a:lnSpc>
                <a:spcPts val="7700"/>
              </a:lnSpc>
            </a:pPr>
            <a:r>
              <a:rPr lang="en-US" sz="7700" spc="-35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Assessment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75003" y="9597364"/>
            <a:ext cx="228429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003" y="3215008"/>
            <a:ext cx="8773787" cy="409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</a:pPr>
            <a:r>
              <a:rPr lang="en-US" sz="3000" spc="-138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Módulo 03: Comunicação e Negócios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114925"/>
            <a:ext cx="4108648" cy="64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6"/>
              </a:lnSpc>
            </a:pPr>
            <a:r>
              <a:rPr lang="en-US" sz="4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Resultado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599136"/>
            <a:ext cx="4108648" cy="64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6"/>
              </a:lnSpc>
            </a:pPr>
            <a:r>
              <a:rPr lang="en-US" sz="4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109 (</a:t>
            </a:r>
            <a:r>
              <a:rPr lang="en-US" sz="4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Nível 03)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9239250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238645" y="1028700"/>
            <a:ext cx="8020655" cy="8111914"/>
          </a:xfrm>
          <a:custGeom>
            <a:avLst/>
            <a:gdLst/>
            <a:ahLst/>
            <a:cxnLst/>
            <a:rect r="r" b="b" t="t" l="l"/>
            <a:pathLst>
              <a:path h="8111914" w="8020655">
                <a:moveTo>
                  <a:pt x="0" y="0"/>
                </a:moveTo>
                <a:lnTo>
                  <a:pt x="8020655" y="0"/>
                </a:lnTo>
                <a:lnTo>
                  <a:pt x="8020655" y="8111914"/>
                </a:lnTo>
                <a:lnTo>
                  <a:pt x="0" y="8111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71575"/>
            <a:ext cx="8773787" cy="199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 spc="-35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Autoavaliação </a:t>
            </a:r>
          </a:p>
          <a:p>
            <a:pPr algn="l" marL="0" indent="0" lvl="0">
              <a:lnSpc>
                <a:spcPts val="7700"/>
              </a:lnSpc>
            </a:pPr>
            <a:r>
              <a:rPr lang="en-US" sz="7700" spc="-35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Assessment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75003" y="9597364"/>
            <a:ext cx="228429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003" y="3215008"/>
            <a:ext cx="8773787" cy="409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</a:pPr>
            <a:r>
              <a:rPr lang="en-US" sz="3000" spc="-138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Módulo 04: Inovação e Cultura de Dados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114925"/>
            <a:ext cx="4108648" cy="64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6"/>
              </a:lnSpc>
            </a:pPr>
            <a:r>
              <a:rPr lang="en-US" sz="4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Resultado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599136"/>
            <a:ext cx="4108648" cy="64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6"/>
              </a:lnSpc>
            </a:pPr>
            <a:r>
              <a:rPr lang="en-US" sz="4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109 (</a:t>
            </a:r>
            <a:r>
              <a:rPr lang="en-US" sz="4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Nível 03)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9239250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585052" y="1353065"/>
            <a:ext cx="8813262" cy="7266020"/>
          </a:xfrm>
          <a:custGeom>
            <a:avLst/>
            <a:gdLst/>
            <a:ahLst/>
            <a:cxnLst/>
            <a:rect r="r" b="b" t="t" l="l"/>
            <a:pathLst>
              <a:path h="7266020" w="8813262">
                <a:moveTo>
                  <a:pt x="0" y="0"/>
                </a:moveTo>
                <a:lnTo>
                  <a:pt x="8813262" y="0"/>
                </a:lnTo>
                <a:lnTo>
                  <a:pt x="8813262" y="7266020"/>
                </a:lnTo>
                <a:lnTo>
                  <a:pt x="0" y="7266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1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71575"/>
            <a:ext cx="8773787" cy="199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 spc="-35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Autoavaliação </a:t>
            </a:r>
          </a:p>
          <a:p>
            <a:pPr algn="l" marL="0" indent="0" lvl="0">
              <a:lnSpc>
                <a:spcPts val="7700"/>
              </a:lnSpc>
            </a:pPr>
            <a:r>
              <a:rPr lang="en-US" sz="7700" spc="-35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Assessment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75003" y="9597364"/>
            <a:ext cx="228429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003" y="3215008"/>
            <a:ext cx="8773787" cy="409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</a:pPr>
            <a:r>
              <a:rPr lang="en-US" sz="3000" spc="-138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Módulo 05: Carreira e Autodesenvolvimento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114925"/>
            <a:ext cx="4108648" cy="64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6"/>
              </a:lnSpc>
            </a:pPr>
            <a:r>
              <a:rPr lang="en-US" sz="4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Resultado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599136"/>
            <a:ext cx="4108648" cy="64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6"/>
              </a:lnSpc>
            </a:pPr>
            <a:r>
              <a:rPr lang="en-US" sz="4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109 (</a:t>
            </a:r>
            <a:r>
              <a:rPr lang="en-US" sz="4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Nível 03)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003" y="1171575"/>
            <a:ext cx="15506192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368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Autoavaliação  Assessment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700" y="9239250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4975003" y="9597364"/>
            <a:ext cx="228429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2330039"/>
          <a:ext cx="16221075" cy="6456704"/>
        </p:xfrm>
        <a:graphic>
          <a:graphicData uri="http://schemas.openxmlformats.org/drawingml/2006/table">
            <a:tbl>
              <a:tblPr/>
              <a:tblGrid>
                <a:gridCol w="2703512"/>
                <a:gridCol w="2703512"/>
                <a:gridCol w="2703512"/>
                <a:gridCol w="2703512"/>
                <a:gridCol w="2703512"/>
                <a:gridCol w="2703512"/>
              </a:tblGrid>
              <a:tr h="7440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Módulos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1F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Nível 1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1F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Nível 2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1F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Nível 3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1F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Nível 4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1F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Nível 5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1F25"/>
                    </a:solidFill>
                  </a:tcPr>
                </a:tc>
              </a:tr>
              <a:tr h="11038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Fundamentos Técnicos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1F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973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Arquitetura e Processamento de Dados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1F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038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Comunicação e Negócios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1F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038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Inovação e Cultura de Dados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1F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038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Carreira e Autodesenvolvimento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1F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2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003" y="1171575"/>
            <a:ext cx="15051148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368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Carreira em Ciência de Dados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281842" y="2461832"/>
            <a:ext cx="6496722" cy="143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6"/>
              </a:lnSpc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carrei</a:t>
            </a: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 em Ciência de Dados tem como foco a utilização de dados, estatística e machine learning para gerar previsões e apoiar decisões estratégicas. O profissional atua na coleta, tratamento e modelagem de dados, transformando informações em insights de alto impacto para o negócio.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638156"/>
            <a:ext cx="3403551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Objetivo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173339"/>
            <a:ext cx="3403551" cy="1535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3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Evoluir de A</a:t>
            </a:r>
            <a:r>
              <a:rPr lang="en-US" sz="19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nalista de Dados para Cientista de Dados, desenvolvendo habilidades em machine learning, estatística e programação.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4195762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028700" y="5143500"/>
            <a:ext cx="340355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304383" y="5638156"/>
            <a:ext cx="3403551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 Execução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04383" y="6182864"/>
            <a:ext cx="3403551" cy="320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2" indent="-183516" lvl="1">
              <a:lnSpc>
                <a:spcPts val="2159"/>
              </a:lnSpc>
              <a:spcBef>
                <a:spcPct val="0"/>
              </a:spcBef>
              <a:buFont typeface="Arial"/>
              <a:buChar char="•"/>
            </a:pPr>
            <a:r>
              <a:rPr lang="en-US" sz="17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Construção de projetos mensais (análise e ML);</a:t>
            </a:r>
          </a:p>
          <a:p>
            <a:pPr algn="l" marL="367032" indent="-183516" lvl="1">
              <a:lnSpc>
                <a:spcPts val="2159"/>
              </a:lnSpc>
              <a:spcBef>
                <a:spcPct val="0"/>
              </a:spcBef>
              <a:buFont typeface="Arial"/>
              <a:buChar char="•"/>
            </a:pPr>
            <a:r>
              <a:rPr lang="en-US" sz="17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Desenvolvimento de portfólio;</a:t>
            </a:r>
          </a:p>
          <a:p>
            <a:pPr algn="l" marL="367032" indent="-183516" lvl="1">
              <a:lnSpc>
                <a:spcPts val="2159"/>
              </a:lnSpc>
              <a:spcBef>
                <a:spcPct val="0"/>
              </a:spcBef>
              <a:buFont typeface="Arial"/>
              <a:buChar char="•"/>
            </a:pPr>
            <a:r>
              <a:rPr lang="en-US" sz="17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Aprofundamento em algoritmos de machine learning;</a:t>
            </a:r>
          </a:p>
          <a:p>
            <a:pPr algn="l" marL="367032" indent="-183516" lvl="1">
              <a:lnSpc>
                <a:spcPts val="2159"/>
              </a:lnSpc>
              <a:spcBef>
                <a:spcPct val="0"/>
              </a:spcBef>
              <a:buFont typeface="Arial"/>
              <a:buChar char="•"/>
            </a:pPr>
            <a:r>
              <a:rPr lang="en-US" sz="17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Utilização de ferramentas como SQL, Power BI e cloud</a:t>
            </a:r>
          </a:p>
          <a:p>
            <a:pPr algn="l" marL="367032" indent="-183516" lvl="1">
              <a:lnSpc>
                <a:spcPts val="2159"/>
              </a:lnSpc>
              <a:spcBef>
                <a:spcPct val="0"/>
              </a:spcBef>
              <a:buFont typeface="Arial"/>
              <a:buChar char="•"/>
            </a:pPr>
            <a:r>
              <a:rPr lang="en-US" sz="17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Participação em cursos, comunidades e desafios de dados</a:t>
            </a:r>
          </a:p>
          <a:p>
            <a:pPr algn="l" marL="0" indent="0" lvl="0">
              <a:lnSpc>
                <a:spcPts val="215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304383" y="4195762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11" id="11"/>
          <p:cNvSpPr/>
          <p:nvPr/>
        </p:nvSpPr>
        <p:spPr>
          <a:xfrm>
            <a:off x="5304383" y="5143500"/>
            <a:ext cx="340355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9580066" y="5638156"/>
            <a:ext cx="3403551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Encerramento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80066" y="6173339"/>
            <a:ext cx="3403551" cy="275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3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19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spero ter um portfólio sólido com projetos de Ciência de Dados, maior domínio técnico e capacidade de atuar em projetos mais avançados, estando preparado para oportunidades como Cientista de Dados ou posições analíticas mais estratégicas.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580066" y="4195762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15" id="15"/>
          <p:cNvSpPr/>
          <p:nvPr/>
        </p:nvSpPr>
        <p:spPr>
          <a:xfrm>
            <a:off x="9580066" y="5143500"/>
            <a:ext cx="340355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028700" y="9239250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4975003" y="9597364"/>
            <a:ext cx="228429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0701" y="2391089"/>
            <a:ext cx="8780763" cy="97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00"/>
              </a:lnSpc>
            </a:pPr>
            <a:r>
              <a:rPr lang="en-US" b="true" sz="7300" spc="-335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EM 12 MESES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2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3530" y="4392884"/>
            <a:ext cx="7993070" cy="3149685"/>
            <a:chOff x="0" y="0"/>
            <a:chExt cx="10657427" cy="41995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2629464"/>
              <a:ext cx="859544" cy="859544"/>
            </a:xfrm>
            <a:custGeom>
              <a:avLst/>
              <a:gdLst/>
              <a:ahLst/>
              <a:cxnLst/>
              <a:rect r="r" b="b" t="t" l="l"/>
              <a:pathLst>
                <a:path h="859544" w="859544">
                  <a:moveTo>
                    <a:pt x="0" y="0"/>
                  </a:moveTo>
                  <a:lnTo>
                    <a:pt x="859544" y="0"/>
                  </a:lnTo>
                  <a:lnTo>
                    <a:pt x="859544" y="859544"/>
                  </a:lnTo>
                  <a:lnTo>
                    <a:pt x="0" y="859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840508" y="2600889"/>
              <a:ext cx="8816919" cy="1598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23"/>
                </a:lnSpc>
                <a:spcBef>
                  <a:spcPct val="0"/>
                </a:spcBef>
              </a:pPr>
              <a:r>
                <a:rPr lang="en-US" sz="2538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Meu </a:t>
              </a:r>
              <a:r>
                <a:rPr lang="en-US" sz="2538" strike="noStrike" u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principal objetivo com este PDI é evoluir de Analista de Dados para uma atuação mais estratégica em Ciência de Dados.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61925"/>
              <a:ext cx="7718485" cy="1913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62"/>
                </a:lnSpc>
                <a:spcBef>
                  <a:spcPct val="0"/>
                </a:spcBef>
              </a:pPr>
              <a:r>
                <a:rPr lang="en-US" sz="5847" spc="-268">
                  <a:solidFill>
                    <a:srgbClr val="FFFFFF"/>
                  </a:solidFill>
                  <a:latin typeface="Roca Two"/>
                  <a:ea typeface="Roca Two"/>
                  <a:cs typeface="Roca Two"/>
                  <a:sym typeface="Roca Two"/>
                </a:rPr>
                <a:t>Evolução para Ciência de Dados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2214"/>
            <a:ext cx="9144000" cy="10284786"/>
            <a:chOff x="0" y="0"/>
            <a:chExt cx="2408296" cy="27087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8296" cy="2708750"/>
            </a:xfrm>
            <a:custGeom>
              <a:avLst/>
              <a:gdLst/>
              <a:ahLst/>
              <a:cxnLst/>
              <a:rect r="r" b="b" t="t" l="l"/>
              <a:pathLst>
                <a:path h="2708750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8750"/>
                  </a:lnTo>
                  <a:lnTo>
                    <a:pt x="0" y="27087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2408296" cy="265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283808" y="311940"/>
            <a:ext cx="5342787" cy="2842198"/>
            <a:chOff x="0" y="0"/>
            <a:chExt cx="7123716" cy="378959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90500"/>
              <a:ext cx="7123716" cy="2188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51"/>
                </a:lnSpc>
                <a:spcBef>
                  <a:spcPct val="0"/>
                </a:spcBef>
              </a:pPr>
              <a:r>
                <a:rPr lang="en-US" sz="6723" spc="-309">
                  <a:solidFill>
                    <a:srgbClr val="000000"/>
                  </a:solidFill>
                  <a:latin typeface="Roca Two"/>
                  <a:ea typeface="Roca Two"/>
                  <a:cs typeface="Roca Two"/>
                  <a:sym typeface="Roca Two"/>
                </a:rPr>
                <a:t>Objetivos Específicos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0" y="2996288"/>
              <a:ext cx="793309" cy="793309"/>
            </a:xfrm>
            <a:custGeom>
              <a:avLst/>
              <a:gdLst/>
              <a:ahLst/>
              <a:cxnLst/>
              <a:rect r="r" b="b" t="t" l="l"/>
              <a:pathLst>
                <a:path h="793309" w="793309">
                  <a:moveTo>
                    <a:pt x="0" y="0"/>
                  </a:moveTo>
                  <a:lnTo>
                    <a:pt x="793309" y="0"/>
                  </a:lnTo>
                  <a:lnTo>
                    <a:pt x="793309" y="793310"/>
                  </a:lnTo>
                  <a:lnTo>
                    <a:pt x="0" y="793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AutoShape 12" id="12"/>
          <p:cNvSpPr/>
          <p:nvPr/>
        </p:nvSpPr>
        <p:spPr>
          <a:xfrm flipV="true">
            <a:off x="1028700" y="9239250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4975003" y="9597364"/>
            <a:ext cx="228429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7983" y="1171575"/>
            <a:ext cx="8773787" cy="1024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0"/>
              </a:lnSpc>
            </a:pPr>
            <a:r>
              <a:rPr lang="en-US" sz="7700" spc="-354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Objetivo  do PDI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70364" y="3662972"/>
            <a:ext cx="6799076" cy="828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4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Explique em termos gerais qual o seu maior objetivo construindo esse PDI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719465" y="2058058"/>
            <a:ext cx="7993070" cy="2482935"/>
            <a:chOff x="0" y="0"/>
            <a:chExt cx="10657427" cy="33105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1740464"/>
              <a:ext cx="859544" cy="859544"/>
            </a:xfrm>
            <a:custGeom>
              <a:avLst/>
              <a:gdLst/>
              <a:ahLst/>
              <a:cxnLst/>
              <a:rect r="r" b="b" t="t" l="l"/>
              <a:pathLst>
                <a:path h="859544" w="859544">
                  <a:moveTo>
                    <a:pt x="0" y="0"/>
                  </a:moveTo>
                  <a:lnTo>
                    <a:pt x="859544" y="0"/>
                  </a:lnTo>
                  <a:lnTo>
                    <a:pt x="859544" y="859544"/>
                  </a:lnTo>
                  <a:lnTo>
                    <a:pt x="0" y="859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840508" y="1711889"/>
              <a:ext cx="8816919" cy="1598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23"/>
                </a:lnSpc>
                <a:spcBef>
                  <a:spcPct val="0"/>
                </a:spcBef>
              </a:pPr>
              <a:r>
                <a:rPr lang="en-US" sz="2538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 interesse pela área surgiu a partir do contato com a disciplina de Data Science no MBA.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61925"/>
              <a:ext cx="7718485" cy="1024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62"/>
                </a:lnSpc>
                <a:spcBef>
                  <a:spcPct val="0"/>
                </a:spcBef>
              </a:pPr>
              <a:r>
                <a:rPr lang="en-US" sz="5847" spc="-268">
                  <a:solidFill>
                    <a:srgbClr val="000000"/>
                  </a:solidFill>
                  <a:latin typeface="Roca Two"/>
                  <a:ea typeface="Roca Two"/>
                  <a:cs typeface="Roca Two"/>
                  <a:sym typeface="Roca Two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19465" y="4484314"/>
            <a:ext cx="7993070" cy="2482935"/>
            <a:chOff x="0" y="0"/>
            <a:chExt cx="10657427" cy="33105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1740464"/>
              <a:ext cx="859544" cy="859544"/>
            </a:xfrm>
            <a:custGeom>
              <a:avLst/>
              <a:gdLst/>
              <a:ahLst/>
              <a:cxnLst/>
              <a:rect r="r" b="b" t="t" l="l"/>
              <a:pathLst>
                <a:path h="859544" w="859544">
                  <a:moveTo>
                    <a:pt x="0" y="0"/>
                  </a:moveTo>
                  <a:lnTo>
                    <a:pt x="859544" y="0"/>
                  </a:lnTo>
                  <a:lnTo>
                    <a:pt x="859544" y="859544"/>
                  </a:lnTo>
                  <a:lnTo>
                    <a:pt x="0" y="859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840508" y="1711889"/>
              <a:ext cx="8816919" cy="1598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23"/>
                </a:lnSpc>
                <a:spcBef>
                  <a:spcPct val="0"/>
                </a:spcBef>
              </a:pPr>
              <a:r>
                <a:rPr lang="en-US" sz="2538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 evo</a:t>
              </a:r>
              <a:r>
                <a:rPr lang="en-US" sz="2538" strike="noStrike" u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lução do mercado de dados, com maior demanda por soluções preditivas e inteligência artificial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61925"/>
              <a:ext cx="7718485" cy="1024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62"/>
                </a:lnSpc>
                <a:spcBef>
                  <a:spcPct val="0"/>
                </a:spcBef>
              </a:pPr>
              <a:r>
                <a:rPr lang="en-US" sz="5847" spc="-268">
                  <a:solidFill>
                    <a:srgbClr val="000000"/>
                  </a:solidFill>
                  <a:latin typeface="Roca Two"/>
                  <a:ea typeface="Roca Two"/>
                  <a:cs typeface="Roca Two"/>
                  <a:sym typeface="Roca Two"/>
                </a:rPr>
                <a:t>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719465" y="6909736"/>
            <a:ext cx="7993070" cy="2082885"/>
            <a:chOff x="0" y="0"/>
            <a:chExt cx="10657427" cy="27771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1740464"/>
              <a:ext cx="859544" cy="859544"/>
            </a:xfrm>
            <a:custGeom>
              <a:avLst/>
              <a:gdLst/>
              <a:ahLst/>
              <a:cxnLst/>
              <a:rect r="r" b="b" t="t" l="l"/>
              <a:pathLst>
                <a:path h="859544" w="859544">
                  <a:moveTo>
                    <a:pt x="0" y="0"/>
                  </a:moveTo>
                  <a:lnTo>
                    <a:pt x="859544" y="0"/>
                  </a:lnTo>
                  <a:lnTo>
                    <a:pt x="859544" y="859544"/>
                  </a:lnTo>
                  <a:lnTo>
                    <a:pt x="0" y="859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1840508" y="1711889"/>
              <a:ext cx="8816919" cy="1065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23"/>
                </a:lnSpc>
                <a:spcBef>
                  <a:spcPct val="0"/>
                </a:spcBef>
              </a:pPr>
              <a:r>
                <a:rPr lang="en-US" sz="2538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 def</a:t>
              </a:r>
              <a:r>
                <a:rPr lang="en-US" sz="2538" strike="noStrike" u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inição do objetivo também considera meu perfil e interesse em resolver problemas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161925"/>
              <a:ext cx="7718485" cy="1024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62"/>
                </a:lnSpc>
                <a:spcBef>
                  <a:spcPct val="0"/>
                </a:spcBef>
              </a:pPr>
              <a:r>
                <a:rPr lang="en-US" sz="5847" spc="-268">
                  <a:solidFill>
                    <a:srgbClr val="000000"/>
                  </a:solidFill>
                  <a:latin typeface="Roca Two"/>
                  <a:ea typeface="Roca Two"/>
                  <a:cs typeface="Roca Two"/>
                  <a:sym typeface="Roca Two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CD2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003" y="1171575"/>
            <a:ext cx="878076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368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Metodologia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3890" y="2050893"/>
            <a:ext cx="6496722" cy="73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4"/>
              </a:lnSpc>
            </a:pPr>
            <a:r>
              <a:rPr lang="en-US" sz="44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 pilares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20006" y="2821530"/>
            <a:ext cx="3403551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EU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34771" y="3074895"/>
            <a:ext cx="7517576" cy="1230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413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 r</a:t>
            </a:r>
            <a:r>
              <a:rPr lang="en-US" sz="1900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esultado do meu assessment indicou um nível intermediário de maturidade profissional.</a:t>
            </a:r>
          </a:p>
          <a:p>
            <a:pPr algn="l" marL="410211" indent="-205106" lvl="1">
              <a:lnSpc>
                <a:spcPts val="2413"/>
              </a:lnSpc>
              <a:buFont typeface="Arial"/>
              <a:buChar char="•"/>
            </a:pPr>
            <a:r>
              <a:rPr lang="en-US" sz="1900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partir disso, defini como propósito evoluir para uma atuação mais estratégica em Ciência de Dados.</a:t>
            </a:r>
          </a:p>
        </p:txBody>
      </p:sp>
      <p:sp>
        <p:nvSpPr>
          <p:cNvPr name="AutoShape 6" id="6"/>
          <p:cNvSpPr/>
          <p:nvPr/>
        </p:nvSpPr>
        <p:spPr>
          <a:xfrm>
            <a:off x="10082703" y="2578642"/>
            <a:ext cx="340355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457264" y="5560145"/>
            <a:ext cx="3297617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Colegas do</a:t>
            </a:r>
            <a:r>
              <a:rPr lang="en-US" sz="2400" spc="-12" strike="noStrike" u="none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 MBA em Engenharia de Dados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2660" y="6371553"/>
            <a:ext cx="4701346" cy="2000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667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2100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alas de Bate-papo específicas:</a:t>
            </a:r>
          </a:p>
          <a:p>
            <a:pPr algn="l" marL="906780" indent="-302260" lvl="2">
              <a:lnSpc>
                <a:spcPts val="2667"/>
              </a:lnSpc>
              <a:buFont typeface="Arial"/>
              <a:buChar char="⚬"/>
            </a:pPr>
            <a:r>
              <a:rPr lang="en-US" sz="2100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Níveis de Cargos</a:t>
            </a:r>
          </a:p>
          <a:p>
            <a:pPr algn="l" marL="906780" indent="-302260" lvl="2">
              <a:lnSpc>
                <a:spcPts val="2667"/>
              </a:lnSpc>
              <a:buFont typeface="Arial"/>
              <a:buChar char="⚬"/>
            </a:pPr>
            <a:r>
              <a:rPr lang="en-US" sz="2100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Softs e Hards Skills</a:t>
            </a:r>
          </a:p>
          <a:p>
            <a:pPr algn="l" marL="906780" indent="-302260" lvl="2">
              <a:lnSpc>
                <a:spcPts val="2667"/>
              </a:lnSpc>
              <a:buFont typeface="Arial"/>
              <a:buChar char="⚬"/>
            </a:pPr>
            <a:r>
              <a:rPr lang="en-US" sz="2100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Transição de Carreira</a:t>
            </a:r>
          </a:p>
          <a:p>
            <a:pPr algn="l" marL="906780" indent="-302260" lvl="2">
              <a:lnSpc>
                <a:spcPts val="2667"/>
              </a:lnSpc>
              <a:buFont typeface="Arial"/>
              <a:buChar char="⚬"/>
            </a:pPr>
            <a:r>
              <a:rPr lang="en-US" sz="2100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Primeiro Emprego em Dados</a:t>
            </a:r>
          </a:p>
          <a:p>
            <a:pPr algn="l" marL="906780" indent="-302260" lvl="2">
              <a:lnSpc>
                <a:spcPts val="2667"/>
              </a:lnSpc>
              <a:buFont typeface="Arial"/>
              <a:buChar char="⚬"/>
            </a:pPr>
            <a:r>
              <a:rPr lang="en-US" sz="2100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Carreira em Y</a:t>
            </a:r>
          </a:p>
        </p:txBody>
      </p:sp>
      <p:sp>
        <p:nvSpPr>
          <p:cNvPr name="AutoShape 9" id="9"/>
          <p:cNvSpPr/>
          <p:nvPr/>
        </p:nvSpPr>
        <p:spPr>
          <a:xfrm>
            <a:off x="457264" y="5332189"/>
            <a:ext cx="329761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6338888" y="5703435"/>
            <a:ext cx="3403551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Mentor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70498" y="6523131"/>
            <a:ext cx="7353058" cy="2000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667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Guiar na carreira e no aprendizado</a:t>
            </a:r>
          </a:p>
          <a:p>
            <a:pPr algn="l" marL="453390" indent="-226695" lvl="1">
              <a:lnSpc>
                <a:spcPts val="2667"/>
              </a:lnSpc>
              <a:buFont typeface="Arial"/>
              <a:buChar char="•"/>
            </a:pPr>
            <a:r>
              <a:rPr lang="en-US" sz="2100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Indicar caminhos e oportunidades</a:t>
            </a:r>
          </a:p>
          <a:p>
            <a:pPr algn="l" marL="453390" indent="-226695" lvl="1">
              <a:lnSpc>
                <a:spcPts val="2667"/>
              </a:lnSpc>
              <a:buFont typeface="Arial"/>
              <a:buChar char="•"/>
            </a:pPr>
            <a:r>
              <a:rPr lang="en-US" sz="2100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Compartilhar experiências do mercado</a:t>
            </a:r>
          </a:p>
          <a:p>
            <a:pPr algn="l" marL="453390" indent="-226695" lvl="1">
              <a:lnSpc>
                <a:spcPts val="2667"/>
              </a:lnSpc>
              <a:buFont typeface="Arial"/>
              <a:buChar char="•"/>
            </a:pPr>
            <a:r>
              <a:rPr lang="en-US" sz="2100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Dar feedback e apoiar no crescimento</a:t>
            </a:r>
          </a:p>
          <a:p>
            <a:pPr algn="l" marL="453390" indent="-226695" lvl="1">
              <a:lnSpc>
                <a:spcPts val="2667"/>
              </a:lnSpc>
              <a:buFont typeface="Arial"/>
              <a:buChar char="•"/>
            </a:pPr>
            <a:r>
              <a:rPr lang="en-US" sz="2100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Ajudar em projetos e portfólio</a:t>
            </a:r>
          </a:p>
          <a:p>
            <a:pPr algn="l" marL="453390" indent="-226695" lvl="1">
              <a:lnSpc>
                <a:spcPts val="2667"/>
              </a:lnSpc>
              <a:buFont typeface="Arial"/>
              <a:buChar char="•"/>
            </a:pPr>
            <a:r>
              <a:rPr lang="en-US" sz="2100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Desenvolver habilidades técnicas e comportamentais</a:t>
            </a:r>
          </a:p>
        </p:txBody>
      </p:sp>
      <p:sp>
        <p:nvSpPr>
          <p:cNvPr name="AutoShape 12" id="12"/>
          <p:cNvSpPr/>
          <p:nvPr/>
        </p:nvSpPr>
        <p:spPr>
          <a:xfrm>
            <a:off x="6338888" y="5460548"/>
            <a:ext cx="340355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4975003" y="9597364"/>
            <a:ext cx="228429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20006" y="1587500"/>
            <a:ext cx="679618" cy="785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2"/>
              </a:lnSpc>
            </a:pPr>
            <a:r>
              <a:rPr lang="en-US" b="true" sz="489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7264" y="4399437"/>
            <a:ext cx="658465" cy="785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2"/>
              </a:lnSpc>
            </a:pPr>
            <a:r>
              <a:rPr lang="en-US" b="true" sz="489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05173" y="4508746"/>
            <a:ext cx="679618" cy="785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2"/>
              </a:lnSpc>
            </a:pPr>
            <a:r>
              <a:rPr lang="en-US" b="true" sz="489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60859" y="5742775"/>
            <a:ext cx="3403551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Materiais de Apoio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23557" y="6539251"/>
            <a:ext cx="3954645" cy="1667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667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Mandala Ikigai</a:t>
            </a:r>
          </a:p>
          <a:p>
            <a:pPr algn="l" marL="453390" indent="-226695" lvl="1">
              <a:lnSpc>
                <a:spcPts val="2667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Matriz de SWOT</a:t>
            </a:r>
          </a:p>
          <a:p>
            <a:pPr algn="l" marL="453390" indent="-226695" lvl="1">
              <a:lnSpc>
                <a:spcPts val="2667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Mapa Mental</a:t>
            </a:r>
          </a:p>
          <a:p>
            <a:pPr algn="l" marL="453390" indent="-226695" lvl="1">
              <a:lnSpc>
                <a:spcPts val="2667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Trilha de Estudo</a:t>
            </a:r>
          </a:p>
          <a:p>
            <a:pPr algn="l">
              <a:lnSpc>
                <a:spcPts val="2667"/>
              </a:lnSpc>
            </a:pPr>
          </a:p>
        </p:txBody>
      </p:sp>
      <p:sp>
        <p:nvSpPr>
          <p:cNvPr name="AutoShape 19" id="19"/>
          <p:cNvSpPr/>
          <p:nvPr/>
        </p:nvSpPr>
        <p:spPr>
          <a:xfrm>
            <a:off x="13523557" y="5499888"/>
            <a:ext cx="340355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3560859" y="4508746"/>
            <a:ext cx="679618" cy="785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2"/>
              </a:lnSpc>
            </a:pPr>
            <a:r>
              <a:rPr lang="en-US" b="true" sz="489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name="AutoShape 21" id="21"/>
          <p:cNvSpPr/>
          <p:nvPr/>
        </p:nvSpPr>
        <p:spPr>
          <a:xfrm flipV="true">
            <a:off x="1028700" y="9239250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C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9239250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098109" y="2238283"/>
            <a:ext cx="11161191" cy="6700930"/>
          </a:xfrm>
          <a:custGeom>
            <a:avLst/>
            <a:gdLst/>
            <a:ahLst/>
            <a:cxnLst/>
            <a:rect r="r" b="b" t="t" l="l"/>
            <a:pathLst>
              <a:path h="6700930" w="11161191">
                <a:moveTo>
                  <a:pt x="0" y="0"/>
                </a:moveTo>
                <a:lnTo>
                  <a:pt x="11161191" y="0"/>
                </a:lnTo>
                <a:lnTo>
                  <a:pt x="11161191" y="6700929"/>
                </a:lnTo>
                <a:lnTo>
                  <a:pt x="0" y="67009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25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66003" y="1171575"/>
            <a:ext cx="643578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368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Mandala Ikigai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381032"/>
            <a:ext cx="5389665" cy="2667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 Ikig</a:t>
            </a: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(do japonês, “razão de ser”) é formado pela interseção de quatro dimensões: </a:t>
            </a:r>
          </a:p>
          <a:p>
            <a:pPr algn="l">
              <a:lnSpc>
                <a:spcPts val="2667"/>
              </a:lnSpc>
            </a:pPr>
          </a:p>
          <a:p>
            <a:pPr algn="l" marL="453390" indent="-226695" lvl="1">
              <a:lnSpc>
                <a:spcPts val="2667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 que você ama,</a:t>
            </a:r>
          </a:p>
          <a:p>
            <a:pPr algn="l" marL="453390" indent="-226695" lvl="1">
              <a:lnSpc>
                <a:spcPts val="2667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 que você é bom</a:t>
            </a:r>
          </a:p>
          <a:p>
            <a:pPr algn="l" marL="453390" indent="-226695" lvl="1">
              <a:lnSpc>
                <a:spcPts val="2667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 que o mundo precisa </a:t>
            </a:r>
          </a:p>
          <a:p>
            <a:pPr algn="l" marL="453390" indent="-226695" lvl="1">
              <a:lnSpc>
                <a:spcPts val="2667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Pelo que você pode ser pago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975003" y="9597364"/>
            <a:ext cx="228429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C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9239250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770167" y="2442348"/>
            <a:ext cx="10747666" cy="6323474"/>
          </a:xfrm>
          <a:custGeom>
            <a:avLst/>
            <a:gdLst/>
            <a:ahLst/>
            <a:cxnLst/>
            <a:rect r="r" b="b" t="t" l="l"/>
            <a:pathLst>
              <a:path h="6323474" w="10747666">
                <a:moveTo>
                  <a:pt x="0" y="0"/>
                </a:moveTo>
                <a:lnTo>
                  <a:pt x="10747666" y="0"/>
                </a:lnTo>
                <a:lnTo>
                  <a:pt x="10747666" y="6323474"/>
                </a:lnTo>
                <a:lnTo>
                  <a:pt x="0" y="6323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42" t="-1685" r="0" b="-168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66003" y="1171575"/>
            <a:ext cx="6558251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368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Análise SWOT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75003" y="9597364"/>
            <a:ext cx="228429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C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9239250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3190925"/>
            <a:ext cx="11301259" cy="5749515"/>
          </a:xfrm>
          <a:custGeom>
            <a:avLst/>
            <a:gdLst/>
            <a:ahLst/>
            <a:cxnLst/>
            <a:rect r="r" b="b" t="t" l="l"/>
            <a:pathLst>
              <a:path h="5749515" w="11301259">
                <a:moveTo>
                  <a:pt x="0" y="0"/>
                </a:moveTo>
                <a:lnTo>
                  <a:pt x="11301258" y="0"/>
                </a:lnTo>
                <a:lnTo>
                  <a:pt x="11301258" y="5749516"/>
                </a:lnTo>
                <a:lnTo>
                  <a:pt x="0" y="5749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66003" y="1171575"/>
            <a:ext cx="6879722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368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Mapa Mental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381032"/>
            <a:ext cx="7379727" cy="333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link da ferramenta: https://www.mindmeister.com/pt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975003" y="9597364"/>
            <a:ext cx="228429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56344" y="2381032"/>
            <a:ext cx="5389665" cy="333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mapeamento dos itens a serem estudados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40804" y="0"/>
            <a:ext cx="6847196" cy="10287000"/>
            <a:chOff x="0" y="0"/>
            <a:chExt cx="180337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337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03377">
                  <a:moveTo>
                    <a:pt x="0" y="0"/>
                  </a:moveTo>
                  <a:lnTo>
                    <a:pt x="1803377" y="0"/>
                  </a:lnTo>
                  <a:lnTo>
                    <a:pt x="18033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D202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803377" cy="2652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580105" y="2985666"/>
            <a:ext cx="4789796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368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Condições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80105" y="4341781"/>
            <a:ext cx="4789796" cy="133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7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 plano é viável c</a:t>
            </a:r>
            <a:r>
              <a:rPr lang="en-US" sz="2100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onsiderando minha disponibilidade diária, acesso a cursos e alinhamento com meu objetivo de carreira.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1028700" y="9239250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4975003" y="9597364"/>
            <a:ext cx="228429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871365"/>
            <a:ext cx="3786255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Mapeamentos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258080"/>
            <a:ext cx="3403551" cy="207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2"/>
              </a:lnSpc>
            </a:pPr>
            <a:r>
              <a:rPr lang="en-US" sz="16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Hard Skills</a:t>
            </a:r>
            <a:r>
              <a:rPr lang="en-US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Python, SQL e engenharia de dados (ETL/ELT), plataformas em nuvem (Azure, AWS, BigQuery, Snowflake), ferramentas de BI (Power BI, Tableau)</a:t>
            </a:r>
          </a:p>
          <a:p>
            <a:pPr algn="l" marL="0" indent="0" lvl="0">
              <a:lnSpc>
                <a:spcPts val="2032"/>
              </a:lnSpc>
              <a:spcBef>
                <a:spcPct val="0"/>
              </a:spcBef>
            </a:pPr>
            <a:r>
              <a:rPr lang="en-US" b="true" sz="1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Soft skills</a:t>
            </a:r>
            <a:r>
              <a:rPr lang="en-US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raciocínio lógico, resolução de problemas, aprendizado contínuo e organização.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28700" y="1428972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12" id="12"/>
          <p:cNvSpPr/>
          <p:nvPr/>
        </p:nvSpPr>
        <p:spPr>
          <a:xfrm>
            <a:off x="1028700" y="2376710"/>
            <a:ext cx="340355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5740449" y="2871365"/>
            <a:ext cx="4000569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Tempo (duração do PDI)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40449" y="3416074"/>
            <a:ext cx="3403551" cy="66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7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21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edicação média de 1 a 2 horas por dia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740449" y="1428972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16" id="16"/>
          <p:cNvSpPr/>
          <p:nvPr/>
        </p:nvSpPr>
        <p:spPr>
          <a:xfrm>
            <a:off x="5740449" y="2376710"/>
            <a:ext cx="340355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028700" y="6838528"/>
            <a:ext cx="3403551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Meta Curto Prazo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383236"/>
            <a:ext cx="3403551" cy="133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7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Dese</a:t>
            </a:r>
            <a:r>
              <a:rPr lang="en-US" sz="21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nvolver um portfólio estruturado com projetos de análise de dados e início em machine learning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28700" y="5396135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0" id="20"/>
          <p:cNvSpPr/>
          <p:nvPr/>
        </p:nvSpPr>
        <p:spPr>
          <a:xfrm>
            <a:off x="1028700" y="6343872"/>
            <a:ext cx="340355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5740449" y="6838528"/>
            <a:ext cx="3403551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Budget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40449" y="7383236"/>
            <a:ext cx="3403551" cy="100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7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Já</a:t>
            </a:r>
            <a:r>
              <a:rPr lang="en-US" sz="21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possuo investimento em plataformas de cursos e materiais de apoio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5740449" y="5396135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5740449" y="6343872"/>
            <a:ext cx="340355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1066003" y="1171575"/>
            <a:ext cx="643578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368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Mandala Ikigai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40804" y="0"/>
            <a:ext cx="6847196" cy="10287000"/>
            <a:chOff x="0" y="0"/>
            <a:chExt cx="180337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337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03377">
                  <a:moveTo>
                    <a:pt x="0" y="0"/>
                  </a:moveTo>
                  <a:lnTo>
                    <a:pt x="1803377" y="0"/>
                  </a:lnTo>
                  <a:lnTo>
                    <a:pt x="18033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D202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803377" cy="2652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028700" y="9239250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028700" y="2376710"/>
            <a:ext cx="340355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5740449" y="2376710"/>
            <a:ext cx="340355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5396135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9" id="9"/>
          <p:cNvSpPr/>
          <p:nvPr/>
        </p:nvSpPr>
        <p:spPr>
          <a:xfrm>
            <a:off x="1028700" y="6343872"/>
            <a:ext cx="340355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5740449" y="5396135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11" id="11"/>
          <p:cNvSpPr/>
          <p:nvPr/>
        </p:nvSpPr>
        <p:spPr>
          <a:xfrm>
            <a:off x="5740449" y="6343872"/>
            <a:ext cx="340355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720827" y="979893"/>
            <a:ext cx="6050907" cy="3630544"/>
            <a:chOff x="0" y="0"/>
            <a:chExt cx="6350000" cy="381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350000">
                  <a:moveTo>
                    <a:pt x="0" y="3175000"/>
                  </a:moveTo>
                  <a:lnTo>
                    <a:pt x="0" y="635000"/>
                  </a:lnTo>
                  <a:cubicBezTo>
                    <a:pt x="0" y="284480"/>
                    <a:pt x="284480" y="0"/>
                    <a:pt x="635000" y="0"/>
                  </a:cubicBezTo>
                  <a:lnTo>
                    <a:pt x="5715000" y="0"/>
                  </a:lnTo>
                  <a:cubicBezTo>
                    <a:pt x="6065520" y="0"/>
                    <a:pt x="6350000" y="284480"/>
                    <a:pt x="6350000" y="635000"/>
                  </a:cubicBezTo>
                  <a:lnTo>
                    <a:pt x="6350000" y="3175000"/>
                  </a:lnTo>
                  <a:cubicBezTo>
                    <a:pt x="6350000" y="3525520"/>
                    <a:pt x="6065520" y="3810000"/>
                    <a:pt x="5715000" y="3810000"/>
                  </a:cubicBezTo>
                  <a:lnTo>
                    <a:pt x="635000" y="3810000"/>
                  </a:lnTo>
                  <a:cubicBezTo>
                    <a:pt x="284480" y="3810000"/>
                    <a:pt x="0" y="3525520"/>
                    <a:pt x="0" y="3175000"/>
                  </a:cubicBezTo>
                  <a:close/>
                </a:path>
              </a:pathLst>
            </a:custGeom>
            <a:blipFill>
              <a:blip r:embed="rId4"/>
              <a:stretch>
                <a:fillRect l="-1006" t="0" r="-1006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720827" y="5396135"/>
            <a:ext cx="6169029" cy="3630544"/>
            <a:chOff x="0" y="0"/>
            <a:chExt cx="6473960" cy="381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7396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473960">
                  <a:moveTo>
                    <a:pt x="0" y="3175000"/>
                  </a:moveTo>
                  <a:lnTo>
                    <a:pt x="0" y="635000"/>
                  </a:lnTo>
                  <a:cubicBezTo>
                    <a:pt x="0" y="284480"/>
                    <a:pt x="290033" y="0"/>
                    <a:pt x="647396" y="0"/>
                  </a:cubicBezTo>
                  <a:lnTo>
                    <a:pt x="5826564" y="0"/>
                  </a:lnTo>
                  <a:cubicBezTo>
                    <a:pt x="6183927" y="0"/>
                    <a:pt x="6473960" y="284480"/>
                    <a:pt x="6473960" y="635000"/>
                  </a:cubicBezTo>
                  <a:lnTo>
                    <a:pt x="6473960" y="3175000"/>
                  </a:lnTo>
                  <a:cubicBezTo>
                    <a:pt x="6473960" y="3525520"/>
                    <a:pt x="6183927" y="3810000"/>
                    <a:pt x="5826564" y="3810000"/>
                  </a:cubicBezTo>
                  <a:lnTo>
                    <a:pt x="647396" y="3810000"/>
                  </a:lnTo>
                  <a:cubicBezTo>
                    <a:pt x="290033" y="3810000"/>
                    <a:pt x="0" y="3525520"/>
                    <a:pt x="0" y="3175000"/>
                  </a:cubicBezTo>
                  <a:close/>
                </a:path>
              </a:pathLst>
            </a:custGeom>
            <a:blipFill>
              <a:blip r:embed="rId5"/>
              <a:stretch>
                <a:fillRect l="-86" t="0" r="-86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98863" y="1192750"/>
            <a:ext cx="11141941" cy="1045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00"/>
              </a:lnSpc>
              <a:spcBef>
                <a:spcPct val="0"/>
              </a:spcBef>
            </a:pPr>
            <a:r>
              <a:rPr lang="en-US" sz="7800" spc="-358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Perfil no Linkedln - Depois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975003" y="9597364"/>
            <a:ext cx="228429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2871365"/>
            <a:ext cx="3786255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Perfil no Linkedln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406549"/>
            <a:ext cx="3403551" cy="1840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3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Perfi</a:t>
            </a:r>
            <a:r>
              <a:rPr lang="en-US" sz="19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 reposicionado com foco em dados e evolução para Data Science, destacando projetos práticos, habilidades técnicas e capacidade de gerar insights e soluções baseadas em dados.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40449" y="2604665"/>
            <a:ext cx="4000569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400" spc="-12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Planejamento - 1º Mês</a:t>
            </a:r>
          </a:p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(Posicionamento)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40449" y="3406549"/>
            <a:ext cx="3403551" cy="1840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3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Perfi</a:t>
            </a:r>
            <a:r>
              <a:rPr lang="en-US" sz="19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 atualizado com headline estratégica, resumo orientado a impacto e experiências alinhadas à área de dados, reforçando o direcionamento profissional.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6571828"/>
            <a:ext cx="3403551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400" spc="-12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Planejamento - 2º Mês</a:t>
            </a:r>
          </a:p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(Autoridade)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7373711"/>
            <a:ext cx="3403551" cy="1535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3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-US" sz="19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ublicação de projetos práticos no LinkedIn e GitHub, evidenciando conhecimento em análise de dados, Python e início em machine learning.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800013" y="6558185"/>
            <a:ext cx="3403551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400" spc="-12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Planejamento - 3º Mês</a:t>
            </a:r>
          </a:p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(Networkin</a:t>
            </a:r>
            <a:r>
              <a:rPr lang="en-US" sz="2400" spc="-12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g e busca ativa)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40449" y="7373711"/>
            <a:ext cx="3403551" cy="1840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3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Networki</a:t>
            </a:r>
            <a:r>
              <a:rPr lang="en-US" sz="19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ng ativo com profissionais da área, participação em discussões e busca direcionada por oportunidades em análise de dados e Data Science.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855749" y="271106"/>
            <a:ext cx="3403551" cy="524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63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Profile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594699" y="4753313"/>
            <a:ext cx="3403551" cy="524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63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Analytics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CC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9239250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66003" y="1171575"/>
            <a:ext cx="6879722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368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Desafio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975372"/>
            <a:ext cx="10438420" cy="685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6"/>
              </a:lnSpc>
            </a:pPr>
            <a:r>
              <a:rPr lang="en-US" sz="4280" spc="-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Encontre um buddy por semana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75003" y="9597364"/>
            <a:ext cx="228429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5480" y="4509339"/>
            <a:ext cx="3786255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Alguém da Família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5480" y="5054048"/>
            <a:ext cx="3403551" cy="100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7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Compartilhe seu desafio com alguém da sua família e peça apoio.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98044" y="4509339"/>
            <a:ext cx="4551663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Alguém do MBA de Eng. Dados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98044" y="5054048"/>
            <a:ext cx="3403551" cy="1667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7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</a:t>
            </a:r>
            <a:r>
              <a:rPr lang="en-US" sz="2100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nde uma mensagem para  algum colega de trabalho no MBA que tenha um match legal com seu desafio e peça dicas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54228" y="4509339"/>
            <a:ext cx="4551663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-12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Linkedin: Sua maior referência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54228" y="5054048"/>
            <a:ext cx="3403551" cy="133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7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Mande uma mensagem para suas maiores referências no pedindo dicas de carreira em dados.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381032"/>
            <a:ext cx="14926655" cy="333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Link de apoio : https://alexbretas11.medium.com/desafio-7-encontre-se-com-um-buddy-semanalmente-bdef11f920cc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CC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44119"/>
            <a:ext cx="11255844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368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Entregáveis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700" y="9239250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4975003" y="9597364"/>
            <a:ext cx="228429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99077" y="3213101"/>
          <a:ext cx="16230600" cy="5932072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  <a:gridCol w="5410200"/>
              </a:tblGrid>
              <a:tr h="780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Recurso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9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Link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9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Descrição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98FF"/>
                    </a:solidFill>
                  </a:tcPr>
                </a:tc>
              </a:tr>
              <a:tr h="16123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Hashtag Treinamentos – Curso Básico de Ciência de Dados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https://pages.hashtagtreinamentos.com/minicurso-cienciadados-curso-basico-cienciadados-obrigado?blog=1n4033rer&amp;video=1v660lpht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i="true">
                          <a:solidFill>
                            <a:srgbClr val="000000"/>
                          </a:solidFill>
                          <a:latin typeface="Roboto Italics"/>
                          <a:ea typeface="Roboto Italics"/>
                          <a:cs typeface="Roboto Italics"/>
                          <a:sym typeface="Roboto Italics"/>
                        </a:rPr>
                        <a:t>Curso introdutório para reforçar fundamentos de Ciência de Dados, consolidando conceitos iniciais e preparando a base para estudos mais avançados em análise e modelagem de dados.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23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Alura – Data Science: Explorando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 Analisando Dados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https://cursos.alura.com.br/course/data-science-explorando-analisando-dados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i="true">
                          <a:solidFill>
                            <a:srgbClr val="000000"/>
                          </a:solidFill>
                          <a:latin typeface="Roboto Italics"/>
                          <a:ea typeface="Roboto Italics"/>
                          <a:cs typeface="Roboto Italics"/>
                          <a:sym typeface="Roboto Italics"/>
                        </a:rPr>
                        <a:t>Curso focado em análise exploratória de dados (EDA), com aplicação prátic</a:t>
                      </a:r>
                      <a:r>
                        <a:rPr lang="en-US" sz="1800" i="true">
                          <a:solidFill>
                            <a:srgbClr val="000000"/>
                          </a:solidFill>
                          <a:latin typeface="Roboto Italics"/>
                          <a:ea typeface="Roboto Italics"/>
                          <a:cs typeface="Roboto Italics"/>
                          <a:sym typeface="Roboto Italics"/>
                        </a:rPr>
                        <a:t>a em Python, permitindo desenvolver habilidades essenciais para interpretação de dados e geração de insights.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71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Projetos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práticos – YouTube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Diversos canais de Data Science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i="true">
                          <a:solidFill>
                            <a:srgbClr val="000000"/>
                          </a:solidFill>
                          <a:latin typeface="Roboto Italics"/>
                          <a:ea typeface="Roboto Italics"/>
                          <a:cs typeface="Roboto Italics"/>
                          <a:sym typeface="Roboto Italics"/>
                        </a:rPr>
                        <a:t>Utilização de vídeos com mini projetos para revisão de conteúdos</a:t>
                      </a:r>
                      <a:r>
                        <a:rPr lang="en-US" sz="1800" i="true">
                          <a:solidFill>
                            <a:srgbClr val="000000"/>
                          </a:solidFill>
                          <a:latin typeface="Roboto Italics"/>
                          <a:ea typeface="Roboto Italics"/>
                          <a:cs typeface="Roboto Italics"/>
                          <a:sym typeface="Roboto Italics"/>
                        </a:rPr>
                        <a:t> aprendidos em aula e prática contínua, facilitando a consolidação do conhecimento e preparação para projetos mais estruturados.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2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13015" y="0"/>
            <a:ext cx="10774985" cy="10287000"/>
            <a:chOff x="0" y="0"/>
            <a:chExt cx="283785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785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837856">
                  <a:moveTo>
                    <a:pt x="0" y="0"/>
                  </a:moveTo>
                  <a:lnTo>
                    <a:pt x="2837856" y="0"/>
                  </a:lnTo>
                  <a:lnTo>
                    <a:pt x="28378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C9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2837856" cy="2652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7513015" y="2321776"/>
            <a:ext cx="983026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7513015" y="4150078"/>
            <a:ext cx="983026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7513015" y="5978379"/>
            <a:ext cx="983026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7513015" y="8140055"/>
            <a:ext cx="983026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54760" y="4619521"/>
            <a:ext cx="4527365" cy="4527347"/>
            <a:chOff x="0" y="0"/>
            <a:chExt cx="6350000" cy="6349975"/>
          </a:xfrm>
        </p:grpSpPr>
        <p:sp>
          <p:nvSpPr>
            <p:cNvPr name="Freeform 10" id="10">
              <a:hlinkClick r:id="rId2" tooltip="https://almeidadatascience.com/mentoria-em-data-science"/>
            </p:cNvPr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1152525"/>
            <a:ext cx="5504090" cy="1700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79"/>
              </a:lnSpc>
              <a:spcBef>
                <a:spcPct val="0"/>
              </a:spcBef>
            </a:pPr>
            <a:r>
              <a:rPr lang="en-US" sz="6579" spc="-302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Resultados Preliminares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42869" y="1074060"/>
            <a:ext cx="7770553" cy="324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7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O que você já atingiu em 3 semanas 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42869" y="2902361"/>
            <a:ext cx="7770553" cy="315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71"/>
              </a:lnSpc>
              <a:spcBef>
                <a:spcPct val="0"/>
              </a:spcBef>
            </a:pPr>
            <a:r>
              <a:rPr lang="en-US" sz="2025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O </a:t>
            </a:r>
            <a:r>
              <a:rPr lang="en-US" sz="2025" strike="noStrike" u="none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que você está  próximo de atingir 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42869" y="4730663"/>
            <a:ext cx="7770553" cy="324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7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O que você precisou ajustar durante a execução do PDI 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42869" y="6558964"/>
            <a:ext cx="7770553" cy="324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7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O que você retirou do seu PDI ? Por qual motivo 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42869" y="8720640"/>
            <a:ext cx="7770553" cy="324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7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Qual sua sensação até o momento 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42869" y="1571905"/>
            <a:ext cx="7770553" cy="611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3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Estruturei meu portfólio em três frentes e finalizei projetos que estavam em andamento, organizando melhor minha base prática.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42869" y="3518520"/>
            <a:ext cx="7770553" cy="30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3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Iniciei projetos de análise exploratória de dados.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42869" y="5173135"/>
            <a:ext cx="7770553" cy="611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3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Ajustei minha gestão de tempo para conciliar trabalho, MBA, estudos e outras atividades.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42869" y="7054645"/>
            <a:ext cx="7770553" cy="91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3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Reduzi a quantidade de atividades paralelas para priorizar qualidade e consistência na execução dos projetos, focando em entregas mais relevantes para o portfólio.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42869" y="9246590"/>
            <a:ext cx="7770553" cy="611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3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Sensação de evolução consistente e maior clareza sobre minha carreira.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6319" y="3722559"/>
            <a:ext cx="7276696" cy="844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86"/>
              </a:lnSpc>
            </a:pPr>
            <a:r>
              <a:rPr lang="en-US" sz="6386" spc="-293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Objetivo  do PDI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975003" y="9597364"/>
            <a:ext cx="228429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DAHGxBZ5qJA</dc:identifier>
  <dcterms:modified xsi:type="dcterms:W3CDTF">2011-08-01T06:04:30Z</dcterms:modified>
  <cp:revision>1</cp:revision>
  <dc:title>Cópia de PDI_mentoring</dc:title>
</cp:coreProperties>
</file>